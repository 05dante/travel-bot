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lexandria" panose="020B0604020202020204" charset="-78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Nobile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5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1101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 regenerated to request: all five layer boxes are equal height, identical dimensions, vertically aligned on a common baseline, and symmetrically spaced left-to-right in a 16:9 layout. Color scheme preserved: blue for dense layers, orange for dropout layers, green for output. Accent image preserved (bookmark kept) to maintain visual 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AI Travel &amp; Accommodation Chatbot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 intelligent chatbot using Natural Language Processing and Deep Learning to provide instant travel and accommodation information. Built with Python, NLTK, TensorFlow, and Keras.</a:t>
            </a:r>
            <a:endParaRPr lang="en-US" sz="17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A91A1F-4B4E-2D1B-B82B-56C3FB9DC85C}"/>
              </a:ext>
            </a:extLst>
          </p:cNvPr>
          <p:cNvSpPr txBox="1"/>
          <p:nvPr/>
        </p:nvSpPr>
        <p:spPr>
          <a:xfrm>
            <a:off x="793790" y="6874525"/>
            <a:ext cx="755642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exandria" panose="020B0604020202020204" charset="-78"/>
                <a:cs typeface="Alexandria" panose="020B0604020202020204" charset="-78"/>
              </a:rPr>
              <a:t>Group Project By :</a:t>
            </a:r>
          </a:p>
          <a:p>
            <a:r>
              <a:rPr lang="en-IN" dirty="0">
                <a:latin typeface="Alexandria" panose="020B0604020202020204" charset="-78"/>
                <a:cs typeface="Alexandria" panose="020B0604020202020204" charset="-78"/>
              </a:rPr>
              <a:t> </a:t>
            </a:r>
          </a:p>
          <a:p>
            <a:r>
              <a:rPr lang="en-IN" sz="1600" dirty="0">
                <a:latin typeface="Nobile" panose="020B0604020202020204" charset="0"/>
              </a:rPr>
              <a:t>Soumik Mondal, Krishnendu Sarkar, Sharadindu Das, Souvik Basu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2422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Problem Statement &amp; Objectives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40875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The Challenge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4060865"/>
            <a:ext cx="350150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Travellers face difficulties finding accurate accommodation information quickly. Traditional search methods are time-consuming and lack conversational understanding.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342721" y="340875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Our Solution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0342721" y="4060865"/>
            <a:ext cx="35015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Build an NLP-powered chatbot that understands user intents, processes natural language queries, and responds with relevant accommodation information instantly.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794" y="730091"/>
            <a:ext cx="5710357" cy="572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Technology Stack &amp; Tools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794" y="1597700"/>
            <a:ext cx="6600468" cy="1717477"/>
          </a:xfrm>
          <a:prstGeom prst="roundRect">
            <a:avLst>
              <a:gd name="adj" fmla="val 4477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1413" y="1788319"/>
            <a:ext cx="549235" cy="549235"/>
          </a:xfrm>
          <a:prstGeom prst="roundRect">
            <a:avLst>
              <a:gd name="adj" fmla="val 16646946"/>
            </a:avLst>
          </a:prstGeom>
          <a:solidFill>
            <a:srgbClr val="1B54D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2504" y="1939290"/>
            <a:ext cx="247055" cy="2470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1413" y="2485311"/>
            <a:ext cx="2288619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Python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31413" y="2859881"/>
            <a:ext cx="6219230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Core programming language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89019" y="1597700"/>
            <a:ext cx="6600587" cy="1717477"/>
          </a:xfrm>
          <a:prstGeom prst="roundRect">
            <a:avLst>
              <a:gd name="adj" fmla="val 4477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79638" y="1788319"/>
            <a:ext cx="549235" cy="549235"/>
          </a:xfrm>
          <a:prstGeom prst="roundRect">
            <a:avLst>
              <a:gd name="adj" fmla="val 16646946"/>
            </a:avLst>
          </a:prstGeom>
          <a:solidFill>
            <a:srgbClr val="1B54D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30728" y="1939290"/>
            <a:ext cx="247055" cy="2470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79638" y="2485311"/>
            <a:ext cx="2288619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NLTK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579638" y="2859881"/>
            <a:ext cx="6219349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Natural Language Toolkit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794" y="3462933"/>
            <a:ext cx="6600468" cy="1717477"/>
          </a:xfrm>
          <a:prstGeom prst="roundRect">
            <a:avLst>
              <a:gd name="adj" fmla="val 4477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1413" y="3653552"/>
            <a:ext cx="549235" cy="549235"/>
          </a:xfrm>
          <a:prstGeom prst="roundRect">
            <a:avLst>
              <a:gd name="adj" fmla="val 16646946"/>
            </a:avLst>
          </a:prstGeom>
          <a:solidFill>
            <a:srgbClr val="1B54D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2504" y="3804523"/>
            <a:ext cx="247055" cy="24705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1413" y="4350544"/>
            <a:ext cx="2288619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TensorFlow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31413" y="4725114"/>
            <a:ext cx="6219230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Deep learning framework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389019" y="3462933"/>
            <a:ext cx="6600587" cy="1717477"/>
          </a:xfrm>
          <a:prstGeom prst="roundRect">
            <a:avLst>
              <a:gd name="adj" fmla="val 4477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579638" y="3653552"/>
            <a:ext cx="549235" cy="549235"/>
          </a:xfrm>
          <a:prstGeom prst="roundRect">
            <a:avLst>
              <a:gd name="adj" fmla="val 16646946"/>
            </a:avLst>
          </a:prstGeom>
          <a:solidFill>
            <a:srgbClr val="1B54DA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30728" y="3804523"/>
            <a:ext cx="247055" cy="24705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79638" y="4350544"/>
            <a:ext cx="2288619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Keras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7579638" y="4725114"/>
            <a:ext cx="6219349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Neural network API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40794" y="5328166"/>
            <a:ext cx="6600468" cy="1717477"/>
          </a:xfrm>
          <a:prstGeom prst="roundRect">
            <a:avLst>
              <a:gd name="adj" fmla="val 4477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31413" y="5518785"/>
            <a:ext cx="549235" cy="549235"/>
          </a:xfrm>
          <a:prstGeom prst="roundRect">
            <a:avLst>
              <a:gd name="adj" fmla="val 16646946"/>
            </a:avLst>
          </a:prstGeom>
          <a:solidFill>
            <a:srgbClr val="1B54DA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2504" y="5669756"/>
            <a:ext cx="247055" cy="24705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31413" y="6215777"/>
            <a:ext cx="2288619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Pickle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831413" y="6590348"/>
            <a:ext cx="6219230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 persistence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7389019" y="5328166"/>
            <a:ext cx="6600587" cy="1717477"/>
          </a:xfrm>
          <a:prstGeom prst="roundRect">
            <a:avLst>
              <a:gd name="adj" fmla="val 4477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7579638" y="5518785"/>
            <a:ext cx="549235" cy="549235"/>
          </a:xfrm>
          <a:prstGeom prst="roundRect">
            <a:avLst>
              <a:gd name="adj" fmla="val 16646946"/>
            </a:avLst>
          </a:prstGeom>
          <a:solidFill>
            <a:srgbClr val="1B54DA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30728" y="5669756"/>
            <a:ext cx="247055" cy="24705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579638" y="6215777"/>
            <a:ext cx="2288619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NumPy</a:t>
            </a:r>
            <a:endParaRPr lang="en-US" sz="1800" dirty="0"/>
          </a:p>
        </p:txBody>
      </p:sp>
      <p:sp>
        <p:nvSpPr>
          <p:cNvPr id="32" name="Text 24"/>
          <p:cNvSpPr/>
          <p:nvPr/>
        </p:nvSpPr>
        <p:spPr>
          <a:xfrm>
            <a:off x="7579638" y="6590348"/>
            <a:ext cx="6219349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Numerical computing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40794" y="7211854"/>
            <a:ext cx="13348811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Additional resources: </a:t>
            </a:r>
            <a:r>
              <a:rPr lang="en-US" sz="14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punkt</a:t>
            </a: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tokenizer, </a:t>
            </a:r>
            <a:r>
              <a:rPr lang="en-US" sz="14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wordnet</a:t>
            </a: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lexical database, </a:t>
            </a:r>
            <a:r>
              <a:rPr lang="en-US" sz="14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omw-1.4</a:t>
            </a: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multilingual wordnet.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8066" y="577572"/>
            <a:ext cx="5212199" cy="64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System Architecture</a:t>
            </a:r>
            <a:endParaRPr lang="en-US" sz="4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066" y="1497092"/>
            <a:ext cx="1025843" cy="12309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29408" y="1702237"/>
            <a:ext cx="2564606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User Input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1929408" y="2134076"/>
            <a:ext cx="649652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Natural language query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066" y="2728079"/>
            <a:ext cx="1025843" cy="123098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29408" y="2933224"/>
            <a:ext cx="2564606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NLP Preprocessing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1929408" y="3365063"/>
            <a:ext cx="649652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Tokenization &amp; lemmatization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066" y="3959066"/>
            <a:ext cx="1025843" cy="123098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29408" y="4164211"/>
            <a:ext cx="2564606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Intent Classification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1929408" y="4596051"/>
            <a:ext cx="649652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Neural network model</a:t>
            </a:r>
            <a:endParaRPr lang="en-US" sz="16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066" y="5190053"/>
            <a:ext cx="1025843" cy="123098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929408" y="5395198"/>
            <a:ext cx="2574727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Response Generator</a:t>
            </a:r>
            <a:endParaRPr lang="en-US" sz="2000" dirty="0"/>
          </a:p>
        </p:txBody>
      </p:sp>
      <p:sp>
        <p:nvSpPr>
          <p:cNvPr id="15" name="Text 8"/>
          <p:cNvSpPr/>
          <p:nvPr/>
        </p:nvSpPr>
        <p:spPr>
          <a:xfrm>
            <a:off x="1929408" y="5827038"/>
            <a:ext cx="649652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Dynamic responses</a:t>
            </a:r>
            <a:endParaRPr lang="en-US" sz="16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066" y="6421041"/>
            <a:ext cx="1025843" cy="1230987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929408" y="6626185"/>
            <a:ext cx="2564606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Chatbot Output</a:t>
            </a:r>
            <a:endParaRPr lang="en-US" sz="2000" dirty="0"/>
          </a:p>
        </p:txBody>
      </p:sp>
      <p:sp>
        <p:nvSpPr>
          <p:cNvPr id="18" name="Text 10"/>
          <p:cNvSpPr/>
          <p:nvPr/>
        </p:nvSpPr>
        <p:spPr>
          <a:xfrm>
            <a:off x="1929408" y="7058025"/>
            <a:ext cx="649652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Accommodation information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0481"/>
            <a:ext cx="77142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NLP Preprocessing Pipeline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27434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266236"/>
            <a:ext cx="356080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Key Processing Steps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9638943" y="2918341"/>
            <a:ext cx="4205168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Tokenization: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Split sentences into individual words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Lemmatization: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Convert words to root form using WordNet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Vocabulary Creation: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Build unique words list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Intent Mapping: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Store patterns and responses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6263521"/>
            <a:ext cx="4205168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Output: </a:t>
            </a:r>
            <a:r>
              <a:rPr lang="en-US" sz="17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words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list, </a:t>
            </a:r>
            <a:r>
              <a:rPr lang="en-US" sz="17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classes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list, and </a:t>
            </a:r>
            <a:r>
              <a:rPr lang="en-US" sz="17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documents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with intent patterns.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1058" y="826651"/>
            <a:ext cx="4932164" cy="657629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5930" y="650081"/>
            <a:ext cx="7592139" cy="138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Feature Engineering &amp; Dataset</a:t>
            </a:r>
            <a:endParaRPr lang="en-US" sz="4350" dirty="0"/>
          </a:p>
        </p:txBody>
      </p:sp>
      <p:sp>
        <p:nvSpPr>
          <p:cNvPr id="5" name="Shape 1"/>
          <p:cNvSpPr/>
          <p:nvPr/>
        </p:nvSpPr>
        <p:spPr>
          <a:xfrm>
            <a:off x="775930" y="2692956"/>
            <a:ext cx="3687723" cy="2681168"/>
          </a:xfrm>
          <a:prstGeom prst="roundRect">
            <a:avLst>
              <a:gd name="adj" fmla="val 5457"/>
            </a:avLst>
          </a:prstGeom>
          <a:solidFill>
            <a:srgbClr val="F9F9FF"/>
          </a:solidFill>
          <a:ln/>
        </p:spPr>
      </p:sp>
      <p:sp>
        <p:nvSpPr>
          <p:cNvPr id="6" name="Shape 2"/>
          <p:cNvSpPr/>
          <p:nvPr/>
        </p:nvSpPr>
        <p:spPr>
          <a:xfrm>
            <a:off x="775930" y="2662476"/>
            <a:ext cx="3687723" cy="121920"/>
          </a:xfrm>
          <a:prstGeom prst="roundRect">
            <a:avLst>
              <a:gd name="adj" fmla="val 76372"/>
            </a:avLst>
          </a:prstGeom>
          <a:solidFill>
            <a:srgbClr val="1B54DA"/>
          </a:solidFill>
          <a:ln/>
        </p:spPr>
      </p:sp>
      <p:sp>
        <p:nvSpPr>
          <p:cNvPr id="7" name="Shape 3"/>
          <p:cNvSpPr/>
          <p:nvPr/>
        </p:nvSpPr>
        <p:spPr>
          <a:xfrm>
            <a:off x="2287191" y="2360414"/>
            <a:ext cx="665083" cy="665083"/>
          </a:xfrm>
          <a:prstGeom prst="roundRect">
            <a:avLst>
              <a:gd name="adj" fmla="val 137487"/>
            </a:avLst>
          </a:prstGeom>
          <a:solidFill>
            <a:srgbClr val="1B54DA"/>
          </a:solidFill>
          <a:ln/>
        </p:spPr>
      </p:sp>
      <p:sp>
        <p:nvSpPr>
          <p:cNvPr id="8" name="Text 4"/>
          <p:cNvSpPr/>
          <p:nvPr/>
        </p:nvSpPr>
        <p:spPr>
          <a:xfrm>
            <a:off x="2486739" y="2526625"/>
            <a:ext cx="265986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1028105" y="3247192"/>
            <a:ext cx="3183374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Bag-of-Words Representation</a:t>
            </a:r>
            <a:endParaRPr lang="en-US" sz="2150" dirty="0"/>
          </a:p>
        </p:txBody>
      </p:sp>
      <p:sp>
        <p:nvSpPr>
          <p:cNvPr id="10" name="Text 6"/>
          <p:cNvSpPr/>
          <p:nvPr/>
        </p:nvSpPr>
        <p:spPr>
          <a:xfrm>
            <a:off x="1028105" y="4070033"/>
            <a:ext cx="3183374" cy="1051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Convert text into numerical vectors using vocabulary indices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4680228" y="2692956"/>
            <a:ext cx="3687842" cy="2681168"/>
          </a:xfrm>
          <a:prstGeom prst="roundRect">
            <a:avLst>
              <a:gd name="adj" fmla="val 5457"/>
            </a:avLst>
          </a:prstGeom>
          <a:solidFill>
            <a:srgbClr val="F9F9FF"/>
          </a:solidFill>
          <a:ln/>
        </p:spPr>
      </p:sp>
      <p:sp>
        <p:nvSpPr>
          <p:cNvPr id="12" name="Shape 8"/>
          <p:cNvSpPr/>
          <p:nvPr/>
        </p:nvSpPr>
        <p:spPr>
          <a:xfrm>
            <a:off x="4680228" y="2662476"/>
            <a:ext cx="3687842" cy="121920"/>
          </a:xfrm>
          <a:prstGeom prst="roundRect">
            <a:avLst>
              <a:gd name="adj" fmla="val 76372"/>
            </a:avLst>
          </a:prstGeom>
          <a:solidFill>
            <a:srgbClr val="1B54DA"/>
          </a:solidFill>
          <a:ln/>
        </p:spPr>
      </p:sp>
      <p:sp>
        <p:nvSpPr>
          <p:cNvPr id="13" name="Shape 9"/>
          <p:cNvSpPr/>
          <p:nvPr/>
        </p:nvSpPr>
        <p:spPr>
          <a:xfrm>
            <a:off x="6191607" y="2360414"/>
            <a:ext cx="665083" cy="665083"/>
          </a:xfrm>
          <a:prstGeom prst="roundRect">
            <a:avLst>
              <a:gd name="adj" fmla="val 137487"/>
            </a:avLst>
          </a:prstGeom>
          <a:solidFill>
            <a:srgbClr val="1B54DA"/>
          </a:solidFill>
          <a:ln/>
        </p:spPr>
      </p:sp>
      <p:sp>
        <p:nvSpPr>
          <p:cNvPr id="14" name="Text 10"/>
          <p:cNvSpPr/>
          <p:nvPr/>
        </p:nvSpPr>
        <p:spPr>
          <a:xfrm>
            <a:off x="6391156" y="2526625"/>
            <a:ext cx="265986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2050" dirty="0"/>
          </a:p>
        </p:txBody>
      </p:sp>
      <p:sp>
        <p:nvSpPr>
          <p:cNvPr id="15" name="Text 11"/>
          <p:cNvSpPr/>
          <p:nvPr/>
        </p:nvSpPr>
        <p:spPr>
          <a:xfrm>
            <a:off x="4932402" y="3247192"/>
            <a:ext cx="3095387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Training Data Creation</a:t>
            </a:r>
            <a:endParaRPr lang="en-US" sz="2150" dirty="0"/>
          </a:p>
        </p:txBody>
      </p:sp>
      <p:sp>
        <p:nvSpPr>
          <p:cNvPr id="16" name="Text 12"/>
          <p:cNvSpPr/>
          <p:nvPr/>
        </p:nvSpPr>
        <p:spPr>
          <a:xfrm>
            <a:off x="4932402" y="3723561"/>
            <a:ext cx="3183493" cy="109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Generate </a:t>
            </a:r>
            <a:r>
              <a:rPr lang="en-US" sz="17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train_x</a:t>
            </a: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(input patterns) and </a:t>
            </a:r>
            <a:r>
              <a:rPr lang="en-US" sz="17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train_y</a:t>
            </a: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(intent labels)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775930" y="5923240"/>
            <a:ext cx="7592139" cy="1656278"/>
          </a:xfrm>
          <a:prstGeom prst="roundRect">
            <a:avLst>
              <a:gd name="adj" fmla="val 8833"/>
            </a:avLst>
          </a:prstGeom>
          <a:solidFill>
            <a:srgbClr val="F9F9FF"/>
          </a:solidFill>
          <a:ln/>
        </p:spPr>
      </p:sp>
      <p:sp>
        <p:nvSpPr>
          <p:cNvPr id="18" name="Shape 14"/>
          <p:cNvSpPr/>
          <p:nvPr/>
        </p:nvSpPr>
        <p:spPr>
          <a:xfrm>
            <a:off x="775930" y="5892760"/>
            <a:ext cx="7592139" cy="121920"/>
          </a:xfrm>
          <a:prstGeom prst="roundRect">
            <a:avLst>
              <a:gd name="adj" fmla="val 76372"/>
            </a:avLst>
          </a:prstGeom>
          <a:solidFill>
            <a:srgbClr val="1B54DA"/>
          </a:solidFill>
          <a:ln/>
        </p:spPr>
      </p:sp>
      <p:sp>
        <p:nvSpPr>
          <p:cNvPr id="19" name="Shape 15"/>
          <p:cNvSpPr/>
          <p:nvPr/>
        </p:nvSpPr>
        <p:spPr>
          <a:xfrm>
            <a:off x="4239458" y="5590699"/>
            <a:ext cx="665083" cy="665083"/>
          </a:xfrm>
          <a:prstGeom prst="roundRect">
            <a:avLst>
              <a:gd name="adj" fmla="val 137487"/>
            </a:avLst>
          </a:prstGeom>
          <a:solidFill>
            <a:srgbClr val="1B54DA"/>
          </a:solidFill>
          <a:ln/>
        </p:spPr>
      </p:sp>
      <p:sp>
        <p:nvSpPr>
          <p:cNvPr id="20" name="Text 16"/>
          <p:cNvSpPr/>
          <p:nvPr/>
        </p:nvSpPr>
        <p:spPr>
          <a:xfrm>
            <a:off x="4439007" y="5756910"/>
            <a:ext cx="265986" cy="332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2050" dirty="0"/>
          </a:p>
        </p:txBody>
      </p:sp>
      <p:sp>
        <p:nvSpPr>
          <p:cNvPr id="21" name="Text 17"/>
          <p:cNvSpPr/>
          <p:nvPr/>
        </p:nvSpPr>
        <p:spPr>
          <a:xfrm>
            <a:off x="1028105" y="6477476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Model Persistence</a:t>
            </a:r>
            <a:endParaRPr lang="en-US" sz="2150" dirty="0"/>
          </a:p>
        </p:txBody>
      </p:sp>
      <p:sp>
        <p:nvSpPr>
          <p:cNvPr id="22" name="Text 18"/>
          <p:cNvSpPr/>
          <p:nvPr/>
        </p:nvSpPr>
        <p:spPr>
          <a:xfrm>
            <a:off x="1028105" y="6953845"/>
            <a:ext cx="7087791" cy="373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Save processed data using pickle files: </a:t>
            </a:r>
            <a:r>
              <a:rPr lang="en-US" sz="17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words.pkl</a:t>
            </a: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</a:t>
            </a:r>
            <a:r>
              <a:rPr lang="en-US" sz="17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classes.pkl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778" y="1033582"/>
            <a:ext cx="7159823" cy="623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Neural Network Architecture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98778" y="1920954"/>
            <a:ext cx="4293870" cy="2443282"/>
          </a:xfrm>
          <a:prstGeom prst="roundRect">
            <a:avLst>
              <a:gd name="adj" fmla="val 3432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1638" y="1943814"/>
            <a:ext cx="4248150" cy="598884"/>
          </a:xfrm>
          <a:prstGeom prst="roundRect">
            <a:avLst>
              <a:gd name="adj" fmla="val 9421"/>
            </a:avLst>
          </a:prstGeom>
          <a:solidFill>
            <a:srgbClr val="D2DDF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5932" y="2089666"/>
            <a:ext cx="299442" cy="2994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1187" y="2718316"/>
            <a:ext cx="2495550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Input Layer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21187" y="3135630"/>
            <a:ext cx="3849052" cy="300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Dense(128) — ReLU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21187" y="3541276"/>
            <a:ext cx="3849052" cy="300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Receives bag-of-words vectors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168265" y="1920954"/>
            <a:ext cx="4293870" cy="2443282"/>
          </a:xfrm>
          <a:prstGeom prst="roundRect">
            <a:avLst>
              <a:gd name="adj" fmla="val 3432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91125" y="1943814"/>
            <a:ext cx="4248150" cy="598884"/>
          </a:xfrm>
          <a:prstGeom prst="roundRect">
            <a:avLst>
              <a:gd name="adj" fmla="val 9421"/>
            </a:avLst>
          </a:prstGeom>
          <a:solidFill>
            <a:srgbClr val="D2DDF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65419" y="2089666"/>
            <a:ext cx="299442" cy="2994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0674" y="2718316"/>
            <a:ext cx="3071574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Dropout (Regularization)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5390674" y="3135630"/>
            <a:ext cx="3849052" cy="300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Dropout(0.5)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5390674" y="3541276"/>
            <a:ext cx="3849052" cy="600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Reduces overfitting by randomly disabling units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9637752" y="1920954"/>
            <a:ext cx="4293870" cy="2443282"/>
          </a:xfrm>
          <a:prstGeom prst="roundRect">
            <a:avLst>
              <a:gd name="adj" fmla="val 3432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660612" y="1943814"/>
            <a:ext cx="4248150" cy="598884"/>
          </a:xfrm>
          <a:prstGeom prst="roundRect">
            <a:avLst>
              <a:gd name="adj" fmla="val 9421"/>
            </a:avLst>
          </a:prstGeom>
          <a:solidFill>
            <a:srgbClr val="D2DDF9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34907" y="2089666"/>
            <a:ext cx="299442" cy="29944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60161" y="2718316"/>
            <a:ext cx="2495550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Hidden Layer</a:t>
            </a:r>
            <a:endParaRPr lang="en-US" sz="1950" dirty="0"/>
          </a:p>
        </p:txBody>
      </p:sp>
      <p:sp>
        <p:nvSpPr>
          <p:cNvPr id="19" name="Text 14"/>
          <p:cNvSpPr/>
          <p:nvPr/>
        </p:nvSpPr>
        <p:spPr>
          <a:xfrm>
            <a:off x="9860161" y="3135630"/>
            <a:ext cx="3849052" cy="300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Dense(64) — ReLU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9860161" y="3541276"/>
            <a:ext cx="3849052" cy="300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Learns higher-level features</a:t>
            </a:r>
            <a:endParaRPr lang="en-US" sz="1550" dirty="0"/>
          </a:p>
        </p:txBody>
      </p:sp>
      <p:sp>
        <p:nvSpPr>
          <p:cNvPr id="21" name="Shape 16"/>
          <p:cNvSpPr/>
          <p:nvPr/>
        </p:nvSpPr>
        <p:spPr>
          <a:xfrm>
            <a:off x="698778" y="4539853"/>
            <a:ext cx="4293870" cy="2143006"/>
          </a:xfrm>
          <a:prstGeom prst="roundRect">
            <a:avLst>
              <a:gd name="adj" fmla="val 3913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21638" y="4562713"/>
            <a:ext cx="4248150" cy="598884"/>
          </a:xfrm>
          <a:prstGeom prst="roundRect">
            <a:avLst>
              <a:gd name="adj" fmla="val 9421"/>
            </a:avLst>
          </a:prstGeom>
          <a:solidFill>
            <a:srgbClr val="D2DDF9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95932" y="4708565"/>
            <a:ext cx="299442" cy="29944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1187" y="5337215"/>
            <a:ext cx="3071574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Dropout (Regularization)</a:t>
            </a:r>
            <a:endParaRPr lang="en-US" sz="1950" dirty="0"/>
          </a:p>
        </p:txBody>
      </p:sp>
      <p:sp>
        <p:nvSpPr>
          <p:cNvPr id="25" name="Text 19"/>
          <p:cNvSpPr/>
          <p:nvPr/>
        </p:nvSpPr>
        <p:spPr>
          <a:xfrm>
            <a:off x="921187" y="5754529"/>
            <a:ext cx="3849052" cy="300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Dropout(0.5)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921187" y="6160175"/>
            <a:ext cx="3849052" cy="300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Improves generalization</a:t>
            </a:r>
            <a:endParaRPr lang="en-US" sz="1550" dirty="0"/>
          </a:p>
        </p:txBody>
      </p:sp>
      <p:sp>
        <p:nvSpPr>
          <p:cNvPr id="27" name="Shape 21"/>
          <p:cNvSpPr/>
          <p:nvPr/>
        </p:nvSpPr>
        <p:spPr>
          <a:xfrm>
            <a:off x="5168265" y="4539853"/>
            <a:ext cx="4293870" cy="2143006"/>
          </a:xfrm>
          <a:prstGeom prst="roundRect">
            <a:avLst>
              <a:gd name="adj" fmla="val 3913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191125" y="4562713"/>
            <a:ext cx="4248150" cy="598884"/>
          </a:xfrm>
          <a:prstGeom prst="roundRect">
            <a:avLst>
              <a:gd name="adj" fmla="val 9421"/>
            </a:avLst>
          </a:prstGeom>
          <a:solidFill>
            <a:srgbClr val="D2DDF9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65419" y="4708565"/>
            <a:ext cx="299442" cy="29944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390674" y="5337215"/>
            <a:ext cx="2495550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Output Layer</a:t>
            </a:r>
            <a:endParaRPr lang="en-US" sz="1950" dirty="0"/>
          </a:p>
        </p:txBody>
      </p:sp>
      <p:sp>
        <p:nvSpPr>
          <p:cNvPr id="31" name="Text 24"/>
          <p:cNvSpPr/>
          <p:nvPr/>
        </p:nvSpPr>
        <p:spPr>
          <a:xfrm>
            <a:off x="5390674" y="5754529"/>
            <a:ext cx="3849052" cy="300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Dense(num_classes) — Softmax</a:t>
            </a:r>
            <a:endParaRPr lang="en-US" sz="1550" dirty="0"/>
          </a:p>
        </p:txBody>
      </p:sp>
      <p:sp>
        <p:nvSpPr>
          <p:cNvPr id="32" name="Text 25"/>
          <p:cNvSpPr/>
          <p:nvPr/>
        </p:nvSpPr>
        <p:spPr>
          <a:xfrm>
            <a:off x="5390674" y="6160175"/>
            <a:ext cx="3849052" cy="300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Produces intent probability distribution</a:t>
            </a:r>
            <a:endParaRPr lang="en-US" sz="1550" dirty="0"/>
          </a:p>
        </p:txBody>
      </p:sp>
      <p:sp>
        <p:nvSpPr>
          <p:cNvPr id="33" name="Text 26"/>
          <p:cNvSpPr/>
          <p:nvPr/>
        </p:nvSpPr>
        <p:spPr>
          <a:xfrm>
            <a:off x="698778" y="6880503"/>
            <a:ext cx="13232844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ReLU (Rectified Linear Unit):</a:t>
            </a: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Activation function </a:t>
            </a:r>
            <a:r>
              <a:rPr lang="en-US" sz="15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f(x) = max(0, x)</a:t>
            </a: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that introduces non-linearity while remaining computationally efficient.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993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7829" y="3244453"/>
            <a:ext cx="8292822" cy="649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Training Configuration &amp; Results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727829" y="4180165"/>
            <a:ext cx="4264462" cy="1971437"/>
          </a:xfrm>
          <a:prstGeom prst="roundRect">
            <a:avLst>
              <a:gd name="adj" fmla="val 4430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58572" y="4410908"/>
            <a:ext cx="2599372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Loss Function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58572" y="4850011"/>
            <a:ext cx="3802975" cy="660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categorical_crossentropy</a:t>
            </a: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for multi-class classification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82910" y="4180165"/>
            <a:ext cx="4264462" cy="1971437"/>
          </a:xfrm>
          <a:prstGeom prst="roundRect">
            <a:avLst>
              <a:gd name="adj" fmla="val 4430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13653" y="4410908"/>
            <a:ext cx="2599372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Optimizer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413653" y="4850011"/>
            <a:ext cx="3802975" cy="660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SGD</a:t>
            </a: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with Nesterov momentum for faster convergence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637990" y="4180165"/>
            <a:ext cx="4264462" cy="1971437"/>
          </a:xfrm>
          <a:prstGeom prst="roundRect">
            <a:avLst>
              <a:gd name="adj" fmla="val 4430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68733" y="4410908"/>
            <a:ext cx="2599372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Training Epochs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868733" y="4850011"/>
            <a:ext cx="3802975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200 epochs with validation to prevent overfitting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868733" y="5602010"/>
            <a:ext cx="3802975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27829" y="6342221"/>
            <a:ext cx="13174623" cy="1242298"/>
          </a:xfrm>
          <a:prstGeom prst="roundRect">
            <a:avLst>
              <a:gd name="adj" fmla="val 7031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58572" y="6572964"/>
            <a:ext cx="2599372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Model Output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58572" y="7012067"/>
            <a:ext cx="12713137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Saved as </a:t>
            </a:r>
            <a:r>
              <a:rPr lang="en-US" sz="16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chatbot_model.h5</a:t>
            </a: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for deployment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405" y="651153"/>
            <a:ext cx="7887295" cy="679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Response Generation / Demo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61405" y="1878568"/>
            <a:ext cx="217527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61405" y="2217777"/>
            <a:ext cx="6288405" cy="3048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5" name="Text 3"/>
          <p:cNvSpPr/>
          <p:nvPr/>
        </p:nvSpPr>
        <p:spPr>
          <a:xfrm>
            <a:off x="761405" y="2387441"/>
            <a:ext cx="2719507" cy="347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predict_class()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61405" y="2943582"/>
            <a:ext cx="6288405" cy="68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Classify user input into intent categories using trained model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1405" y="3997047"/>
            <a:ext cx="217527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1405" y="4336256"/>
            <a:ext cx="6288405" cy="3048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9" name="Text 7"/>
          <p:cNvSpPr/>
          <p:nvPr/>
        </p:nvSpPr>
        <p:spPr>
          <a:xfrm>
            <a:off x="761405" y="4505920"/>
            <a:ext cx="2719507" cy="347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getResponse()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61405" y="5062061"/>
            <a:ext cx="6288405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Retrieve appropriate response based on predicted intent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1405" y="5774650"/>
            <a:ext cx="217527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61405" y="6113859"/>
            <a:ext cx="6288405" cy="3048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3" name="Text 11"/>
          <p:cNvSpPr/>
          <p:nvPr/>
        </p:nvSpPr>
        <p:spPr>
          <a:xfrm>
            <a:off x="761405" y="6283523"/>
            <a:ext cx="2719507" cy="347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chatbot_response()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61405" y="6839664"/>
            <a:ext cx="6288405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Generate final response with formatted output for user</a:t>
            </a:r>
            <a:endParaRPr lang="en-US" sz="17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210" y="2037040"/>
            <a:ext cx="4900493" cy="51480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9555"/>
            <a:ext cx="111785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Advantages, Limitations &amp; Future Scope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7530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54DA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✓</a:t>
            </a:r>
            <a:r>
              <a:rPr lang="en-US" sz="2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Advantages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127415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Lightweight and efficient architecture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Fast response times for user queries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Easily expandable with new intents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Cost-effective implementation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43726"/>
            <a:ext cx="3402330" cy="43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⚠</a:t>
            </a:r>
            <a:r>
              <a:rPr lang="en-US" sz="2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Limitations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0" y="5703451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Bag-of-words lacks context understanding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Fixed training data limits scope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real-time API integrations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2475309"/>
            <a:ext cx="40647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54DA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→</a:t>
            </a:r>
            <a:r>
              <a:rPr lang="en-US" sz="2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Future Enhancements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599521" y="3127415"/>
            <a:ext cx="6244709" cy="249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BERT Integration: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Context-aware language understanding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API Connections: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Real-time booking systems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Voice Assistant: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Speech-to-text capabilities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Web Deployment: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Scalable cloud infrastructure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5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Personalization: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User preference learning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580</Words>
  <Application>Microsoft Office PowerPoint</Application>
  <PresentationFormat>Custom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Consolas</vt:lpstr>
      <vt:lpstr>Alexandria</vt:lpstr>
      <vt:lpstr>Arial</vt:lpstr>
      <vt:lpstr>Nobile</vt:lpstr>
      <vt:lpstr>Alexandria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Krishnendu Sarkar</cp:lastModifiedBy>
  <cp:revision>3</cp:revision>
  <dcterms:created xsi:type="dcterms:W3CDTF">2026-02-25T11:18:57Z</dcterms:created>
  <dcterms:modified xsi:type="dcterms:W3CDTF">2026-02-26T06:01:22Z</dcterms:modified>
</cp:coreProperties>
</file>